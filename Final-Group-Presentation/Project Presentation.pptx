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09"/>
  </p:normalViewPr>
  <p:slideViewPr>
    <p:cSldViewPr snapToGrid="0">
      <p:cViewPr>
        <p:scale>
          <a:sx n="121" d="100"/>
          <a:sy n="121" d="100"/>
        </p:scale>
        <p:origin x="1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798-D510-0937-9626-F7989BD3A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91B63-B394-AE29-EFD3-A8022D2E5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EDA42-826D-2E87-CAC8-6CAFDBF5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09EAF-92CB-ADFC-5B20-9B2E32E2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3026-B3E0-CCBD-03C7-47A10AD0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9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ACF62-7F34-E6F0-45BB-37EC3765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5B211-AA7F-1302-FE7E-F1A2F5B46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3C95-D3B5-227B-520F-238B7BFE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680B9-8A32-3B50-173F-C9B2E3C8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37F4-B5D7-233A-714A-E6DC88EB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5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BC71-B78B-F4DE-6AD0-7D341D5A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CC484-574D-6D08-140E-5BAF05647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51A5C-CEC2-A029-697B-C3D58135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D9F6F-97C8-FC98-2FDB-0182A2FA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72472-FE58-5B07-D23E-06C5411C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96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B98B-5673-7740-F6EF-8CA783C2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32CA-A65D-F844-5AE8-E68CB0164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AAD7F-FF48-7048-31CD-EBC3D35B8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2DBC9-37D0-77ED-8C20-45CC9A95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853AB-DB62-8C99-C7FB-0C03A006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96736-5933-6745-8DDE-F5227B50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2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754A-5C9C-0F3C-89F0-790B6E50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77C2D-7C5C-C765-999F-4CDC848E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DD06D-A4DB-4F9B-3946-509FF63EA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80498-609F-FE05-0788-4645659CB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DD05F-CA32-5A5E-39CF-168B7C690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5DEA4-3CC0-CE60-30BF-610B3A16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CE812-CAB1-6792-FCCE-1154E1D4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D468D-3E44-601B-9C1C-EAE82226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2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0D0F-BAC9-F410-8553-FD18B9B1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60CCF-F07B-7060-0C24-9B821A17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686AD-E21F-B268-51E3-5F0F12A4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FE89-4008-8065-2184-CF1CF0AF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3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40AA6-ACD5-4D51-FA08-E4425033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565E4-36FA-47EF-42A0-1094BDA5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2CCF5-446E-22CF-2B79-957635CE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DCDD-2CED-666A-CC1C-2D0A3DC1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129C-8517-5D3E-62A9-2AF02AA08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20D9F-6ECA-724A-0085-5ED698FAF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A0C3D-124F-E25D-E9AB-5A42F795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DC95F-2F10-5523-7E74-2D26DCD2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3740-DCA5-A1B7-717F-29F359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9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C6EB-922B-4E1F-1AF6-4D7396C3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2E21D-4DDC-1048-3198-E83F0D452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31473-31FC-4BBD-2FDD-B3B2B7B55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1FBE5-936D-88C6-FE07-A8CDFD5A5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6A588-F21F-09E9-98EB-049AC65A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8686E-6248-CBB9-2335-54CCFA55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6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B453-26D5-621A-CFF6-931C8E42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2443D-0D5F-903D-0E31-2D6BEE95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9335E-2065-3D57-0BEF-77072A0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3F48-6A21-DD08-8ABF-41451687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230D-CBD6-F5C6-4092-EA5AA900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82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3F4EE-FEC7-ED3C-2958-AD875044A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12342-9BD4-140D-217F-B1CE2D0DC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20ADB-E6BB-4685-AFAB-8EEF4300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77D5A-966A-77F1-0B94-24B2EFAA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C823C-27E5-B89B-D52F-A57F3A7A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9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EEE5A-4DD4-3D04-50BC-2AE0625B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69142-F740-AA89-C90D-0898222E9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46F32-0D5F-3B7D-D04B-346B64D75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CDE8C-024A-724A-A1AF-430F2BEDC035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66C6F-B2A4-418B-67C3-EE9B06B86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3BA54-A3FF-0761-357A-1DA91AE60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6F3F8-8FAB-9844-B76F-A64CCFEC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7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Many People Have a Top Secret Security Clearance? - ClearanceJobs">
            <a:extLst>
              <a:ext uri="{FF2B5EF4-FFF2-40B4-BE49-F238E27FC236}">
                <a16:creationId xmlns:a16="http://schemas.microsoft.com/office/drawing/2014/main" id="{15959C31-AA58-DD0E-7B85-8ED6B95B5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1" b="5294"/>
          <a:stretch/>
        </p:blipFill>
        <p:spPr bwMode="auto">
          <a:xfrm>
            <a:off x="20" y="224119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A95E92-3BCA-E96F-030C-1B2C812D8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sz="5100">
                <a:solidFill>
                  <a:srgbClr val="FFFFFF"/>
                </a:solidFill>
              </a:rPr>
              <a:t>Prediction of the Outcome of United State Security Clearance Appeals via NLP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C03B6-6C1F-8278-5AF1-117C27A39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Julius Frank</a:t>
            </a:r>
          </a:p>
        </p:txBody>
      </p:sp>
    </p:spTree>
    <p:extLst>
      <p:ext uri="{BB962C8B-B14F-4D97-AF65-F5344CB8AC3E}">
        <p14:creationId xmlns:p14="http://schemas.microsoft.com/office/powerpoint/2010/main" val="2092228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E6A9D-B45B-18CD-2D16-A8540FFC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dirty="0"/>
              <a:t>Introduction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D102-F03A-2F3D-9439-3454F5971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600" dirty="0"/>
              <a:t>All persons that work with classified information in the US must get a </a:t>
            </a:r>
            <a:r>
              <a:rPr lang="en-US" sz="1600" i="1" dirty="0"/>
              <a:t>Security Clearance</a:t>
            </a:r>
            <a:r>
              <a:rPr lang="en-US" sz="1600" dirty="0"/>
              <a:t> to be able to access classified information</a:t>
            </a:r>
          </a:p>
          <a:p>
            <a:pPr lvl="1"/>
            <a:r>
              <a:rPr lang="en-US" sz="1400" dirty="0"/>
              <a:t>Additionally, all Federal employees require a </a:t>
            </a:r>
            <a:r>
              <a:rPr lang="en-US" sz="1400" i="1" dirty="0"/>
              <a:t>Public Trust</a:t>
            </a:r>
            <a:r>
              <a:rPr lang="en-US" sz="1400" dirty="0"/>
              <a:t> clearance</a:t>
            </a:r>
          </a:p>
          <a:p>
            <a:r>
              <a:rPr lang="en-US" sz="1600" dirty="0"/>
              <a:t>These clearances can be denied for reasons falling under one of 13 guidelines</a:t>
            </a:r>
          </a:p>
          <a:p>
            <a:r>
              <a:rPr lang="en-US" sz="1600" dirty="0"/>
              <a:t>If a clearance is denied, the government must issue a </a:t>
            </a:r>
            <a:r>
              <a:rPr lang="en-US" sz="1600" i="1" dirty="0"/>
              <a:t>Statement of Reasons </a:t>
            </a:r>
            <a:r>
              <a:rPr lang="en-US" sz="1600" dirty="0"/>
              <a:t>(SOR)</a:t>
            </a:r>
            <a:r>
              <a:rPr lang="en-US" sz="1600" i="1" dirty="0"/>
              <a:t> </a:t>
            </a:r>
            <a:r>
              <a:rPr lang="en-US" sz="1600" dirty="0"/>
              <a:t>explaining what guideline the denial references and the details leading to the denial.</a:t>
            </a:r>
            <a:endParaRPr lang="en-US" sz="1600" i="1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859EC-FFE9-F265-5573-F134B2261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991443"/>
            <a:ext cx="6440424" cy="3767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2EA4C-3E9B-AFB5-F103-EB32DB56A1B8}"/>
              </a:ext>
            </a:extLst>
          </p:cNvPr>
          <p:cNvSpPr txBox="1"/>
          <p:nvPr/>
        </p:nvSpPr>
        <p:spPr>
          <a:xfrm>
            <a:off x="5385815" y="4627091"/>
            <a:ext cx="6440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Security Executive Agent Directive-4, </a:t>
            </a:r>
            <a:r>
              <a:rPr lang="en-US" i="1" dirty="0"/>
              <a:t>The National Counterintelligence and Security Center</a:t>
            </a:r>
          </a:p>
        </p:txBody>
      </p:sp>
    </p:spTree>
    <p:extLst>
      <p:ext uri="{BB962C8B-B14F-4D97-AF65-F5344CB8AC3E}">
        <p14:creationId xmlns:p14="http://schemas.microsoft.com/office/powerpoint/2010/main" val="282228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E6D2D34-4BB4-460B-8844-027610FB2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1FBAD-DCB0-CAD1-A402-4675D9A1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5996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Appealing after receiving an 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75CDD8-213A-DA6F-DEEA-3F13BE4C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84" y="602673"/>
            <a:ext cx="3090678" cy="276615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5314570-9B06-4D37-8CBD-EDD67C2F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204F55B-358D-4FB5-9979-6724C6415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F77C62-9DDF-48D3-A074-159A3276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EB07022-F30B-49CA-B1DD-A826815C4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7C47E16-167C-48BF-9FC9-08787D348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88B8710-E9C7-7021-9964-9A856243B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34" y="3462198"/>
            <a:ext cx="3170380" cy="27661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43561-68EC-63DA-574D-7E371820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Applicants have the right to appeal a denial of clearance after being issued an SOR. They will then stand trial by a judge from the </a:t>
            </a:r>
            <a:r>
              <a:rPr lang="en-US" sz="1500" i="1" dirty="0">
                <a:solidFill>
                  <a:schemeClr val="tx2"/>
                </a:solidFill>
              </a:rPr>
              <a:t>Defense Office of Hearings and Appeals </a:t>
            </a:r>
            <a:r>
              <a:rPr lang="en-US" sz="1500" dirty="0">
                <a:solidFill>
                  <a:schemeClr val="tx2"/>
                </a:solidFill>
              </a:rPr>
              <a:t>(DOHA) to make their case for why they should be granted a clearance</a:t>
            </a:r>
          </a:p>
          <a:p>
            <a:r>
              <a:rPr lang="en-US" sz="1500" dirty="0">
                <a:solidFill>
                  <a:schemeClr val="tx2"/>
                </a:solidFill>
              </a:rPr>
              <a:t>These case files are posted to DOHA’s website and are freely available to the public.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These files contain </a:t>
            </a:r>
            <a:r>
              <a:rPr lang="en-US" sz="1500" i="1" dirty="0">
                <a:solidFill>
                  <a:schemeClr val="tx2"/>
                </a:solidFill>
              </a:rPr>
              <a:t>Findings of Fact </a:t>
            </a:r>
            <a:r>
              <a:rPr lang="en-US" sz="1500" dirty="0">
                <a:solidFill>
                  <a:schemeClr val="tx2"/>
                </a:solidFill>
              </a:rPr>
              <a:t>section where the details of the clearance denial are laid out</a:t>
            </a:r>
          </a:p>
          <a:p>
            <a:r>
              <a:rPr lang="en-US" sz="1500" dirty="0">
                <a:solidFill>
                  <a:schemeClr val="tx2"/>
                </a:solidFill>
              </a:rPr>
              <a:t>This project will aim to develop NLP models to predict the decision of hearings based on their </a:t>
            </a:r>
            <a:r>
              <a:rPr lang="en-US" sz="1500" i="1" dirty="0">
                <a:solidFill>
                  <a:schemeClr val="tx2"/>
                </a:solidFill>
              </a:rPr>
              <a:t>Findings of Fact</a:t>
            </a:r>
          </a:p>
          <a:p>
            <a:r>
              <a:rPr lang="en-US" sz="1500" dirty="0">
                <a:solidFill>
                  <a:schemeClr val="tx2"/>
                </a:solidFill>
              </a:rPr>
              <a:t>Two models are investigated: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Long Short-Term Memory (LSTM) Networks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Logistic Regression (LR) via TF-IDF 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4006062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E41F-9D39-1B3E-E178-DD1B1B282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and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F1580-FFA8-7E10-457D-74942F937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All hearings from 2019 to the present were downloaded from DOHA’s website and processed using </a:t>
            </a:r>
            <a:r>
              <a:rPr lang="en-US" sz="2400" dirty="0" err="1">
                <a:latin typeface="Apple Kid" pitchFamily="2" charset="0"/>
                <a:ea typeface="BigBlue TerminalPlus" pitchFamily="49" charset="0"/>
                <a:cs typeface="Consolas" panose="020B0609020204030204" pitchFamily="49" charset="0"/>
              </a:rPr>
              <a:t>pdfminer.six</a:t>
            </a:r>
            <a:endParaRPr lang="en-US" sz="2400" dirty="0">
              <a:latin typeface="Apple Kid" pitchFamily="2" charset="0"/>
              <a:ea typeface="BigBlue TerminalPlus" pitchFamily="49" charset="0"/>
              <a:cs typeface="Consolas" panose="020B0609020204030204" pitchFamily="49" charset="0"/>
            </a:endParaRPr>
          </a:p>
          <a:p>
            <a:r>
              <a:rPr lang="en-US" sz="2400" dirty="0"/>
              <a:t>Text in parathesis was removed to take out legal citations</a:t>
            </a:r>
          </a:p>
          <a:p>
            <a:r>
              <a:rPr lang="en-US" sz="2400" dirty="0"/>
              <a:t>For LR models only, </a:t>
            </a:r>
            <a:r>
              <a:rPr lang="en-US" sz="2400" dirty="0">
                <a:latin typeface="Apple Kid" pitchFamily="2" charset="0"/>
                <a:cs typeface="Consolas" panose="020B0609020204030204" pitchFamily="49" charset="0"/>
              </a:rPr>
              <a:t>spacy</a:t>
            </a:r>
            <a:r>
              <a:rPr lang="en-US" sz="2400" dirty="0">
                <a:cs typeface="Consolas" panose="020B0609020204030204" pitchFamily="49" charset="0"/>
              </a:rPr>
              <a:t> was used for lemmatization</a:t>
            </a:r>
          </a:p>
          <a:p>
            <a:r>
              <a:rPr lang="en-US" sz="2400" dirty="0">
                <a:cs typeface="Consolas" panose="020B0609020204030204" pitchFamily="49" charset="0"/>
              </a:rPr>
              <a:t>End dataset characteristics:</a:t>
            </a:r>
          </a:p>
          <a:p>
            <a:pPr lvl="1"/>
            <a:r>
              <a:rPr lang="en-US" sz="2000" dirty="0">
                <a:cs typeface="Consolas" panose="020B0609020204030204" pitchFamily="49" charset="0"/>
              </a:rPr>
              <a:t>Training: 915 approvals, 2563 denials</a:t>
            </a:r>
          </a:p>
          <a:p>
            <a:pPr lvl="1"/>
            <a:r>
              <a:rPr lang="en-US" sz="2000" dirty="0">
                <a:cs typeface="Consolas" panose="020B0609020204030204" pitchFamily="49" charset="0"/>
              </a:rPr>
              <a:t>Evaluation: 245 approvals, 662 denials</a:t>
            </a:r>
          </a:p>
          <a:p>
            <a:r>
              <a:rPr lang="en-US" sz="2400" dirty="0">
                <a:cs typeface="Consolas" panose="020B0609020204030204" pitchFamily="49" charset="0"/>
              </a:rPr>
              <a:t>Keep in mind that denial is the positive class and is represented as </a:t>
            </a:r>
            <a:r>
              <a:rPr lang="en-US" sz="2400" dirty="0"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1</a:t>
            </a:r>
            <a:endParaRPr lang="en-US" sz="2400" dirty="0">
              <a:cs typeface="Consolas" panose="020B0609020204030204" pitchFamily="49" charset="0"/>
            </a:endParaRPr>
          </a:p>
          <a:p>
            <a:pPr lvl="1"/>
            <a:endParaRPr lang="en-US" dirty="0">
              <a:cs typeface="Consolas" panose="020B0609020204030204" pitchFamily="49" charset="0"/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148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1C53-39EA-61CE-668B-7D6BDD1F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65CF-2D4B-8FAC-2856-9C78D086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seen, the dataset is massively imbalanced,  denials outnumber approvals 3:1</a:t>
            </a:r>
          </a:p>
          <a:p>
            <a:r>
              <a:rPr lang="en-US" dirty="0"/>
              <a:t>For LR models, </a:t>
            </a:r>
            <a:r>
              <a:rPr lang="en-US" dirty="0" err="1">
                <a:latin typeface="Apple Kid" pitchFamily="2" charset="0"/>
                <a:cs typeface="Consolas" panose="020B0609020204030204" pitchFamily="49" charset="0"/>
              </a:rPr>
              <a:t>sklearn</a:t>
            </a:r>
            <a:r>
              <a:rPr lang="en-US" dirty="0">
                <a:cs typeface="Consolas" panose="020B0609020204030204" pitchFamily="49" charset="0"/>
              </a:rPr>
              <a:t> provides</a:t>
            </a:r>
            <a:r>
              <a:rPr lang="en-US" dirty="0">
                <a:latin typeface="+mj-lt"/>
                <a:cs typeface="Consolas" panose="020B0609020204030204" pitchFamily="49" charset="0"/>
              </a:rPr>
              <a:t> easy ways to apply class weights by simply passing </a:t>
            </a:r>
            <a:r>
              <a:rPr lang="en-US" dirty="0" err="1">
                <a:latin typeface="Apple Kid" pitchFamily="2" charset="0"/>
                <a:cs typeface="Consolas" panose="020B0609020204030204" pitchFamily="49" charset="0"/>
              </a:rPr>
              <a:t>class_weight</a:t>
            </a:r>
            <a:r>
              <a:rPr lang="en-US" dirty="0">
                <a:latin typeface="Apple Kid" pitchFamily="2" charset="0"/>
                <a:cs typeface="Consolas" panose="020B0609020204030204" pitchFamily="49" charset="0"/>
              </a:rPr>
              <a:t>=‘balanced’</a:t>
            </a:r>
          </a:p>
          <a:p>
            <a:r>
              <a:rPr lang="en-US" dirty="0">
                <a:cs typeface="Consolas" panose="020B0609020204030204" pitchFamily="49" charset="0"/>
              </a:rPr>
              <a:t>LSTM models class weights ended producing minimal effects, so weight sampling was used such that </a:t>
            </a:r>
          </a:p>
          <a:p>
            <a:pPr lvl="1"/>
            <a:r>
              <a:rPr lang="en-US" dirty="0">
                <a:cs typeface="Consolas" panose="020B0609020204030204" pitchFamily="49" charset="0"/>
              </a:rPr>
              <a:t>models receive the same </a:t>
            </a:r>
            <a:r>
              <a:rPr lang="en-US" dirty="0" err="1">
                <a:cs typeface="Consolas" panose="020B0609020204030204" pitchFamily="49" charset="0"/>
              </a:rPr>
              <a:t>FoFs</a:t>
            </a:r>
            <a:r>
              <a:rPr lang="en-US" dirty="0">
                <a:cs typeface="Consolas" panose="020B0609020204030204" pitchFamily="49" charset="0"/>
              </a:rPr>
              <a:t> more than once in an epoch</a:t>
            </a:r>
          </a:p>
          <a:p>
            <a:pPr lvl="1"/>
            <a:r>
              <a:rPr lang="en-US" dirty="0"/>
              <a:t>May lead to overfitting, but we will see why this was not a large concern</a:t>
            </a:r>
          </a:p>
        </p:txBody>
      </p:sp>
    </p:spTree>
    <p:extLst>
      <p:ext uri="{BB962C8B-B14F-4D97-AF65-F5344CB8AC3E}">
        <p14:creationId xmlns:p14="http://schemas.microsoft.com/office/powerpoint/2010/main" val="416501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0BD9-4D24-5FE2-4586-86220DA1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C60D-3F45-BC50-5307-3A0607B63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only LR hyperparameters modified were discrete, namely:</a:t>
            </a:r>
          </a:p>
          <a:p>
            <a:pPr lvl="1"/>
            <a:r>
              <a:rPr lang="en-US" dirty="0"/>
              <a:t>The penalty term (lasso vs elastic net vs ridge)</a:t>
            </a:r>
          </a:p>
          <a:p>
            <a:pPr lvl="1"/>
            <a:r>
              <a:rPr lang="en-US" dirty="0"/>
              <a:t>The minimum </a:t>
            </a:r>
            <a:r>
              <a:rPr lang="en-US" i="1" dirty="0"/>
              <a:t>n </a:t>
            </a:r>
            <a:r>
              <a:rPr lang="en-US" dirty="0"/>
              <a:t>for the TF-IDF vectorizer</a:t>
            </a:r>
          </a:p>
          <a:p>
            <a:pPr lvl="1"/>
            <a:r>
              <a:rPr lang="en-US" dirty="0"/>
              <a:t>The maximum </a:t>
            </a:r>
            <a:r>
              <a:rPr lang="en-US" i="1" dirty="0"/>
              <a:t>n </a:t>
            </a:r>
            <a:r>
              <a:rPr lang="en-US" dirty="0"/>
              <a:t>for the TF-IDF vectorizer</a:t>
            </a:r>
          </a:p>
          <a:p>
            <a:r>
              <a:rPr lang="en-US" dirty="0"/>
              <a:t>For the LSTM models on the other hand…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22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ED9B-7E9D-25CB-5040-5F6401FD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 Sensitivity for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B984-A5C0-E892-2682-EB8CD30E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056" y="3850451"/>
            <a:ext cx="4618298" cy="1754327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900" b="0" i="0" dirty="0">
                <a:effectLst/>
                <a:ea typeface="BigBlue TerminalPlus" pitchFamily="49" charset="0"/>
                <a:cs typeface="BigBlue TerminalPlus" pitchFamily="49" charset="0"/>
              </a:rPr>
              <a:t>Example low learning rate behavior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P tensor([0, 0, 0, 0, 0, 0, 0, 0, 0, 0]) Batch 75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T tensor([0, 0, 1, 0, 1, 0, 0, 1, 1, 1]) Batch 75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A tensor(0.5000) Batch 75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P tensor([0, 0, 0, 0, 1, 0, 0, 0, 1, 0]) Batch 76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T tensor([0, 1, 1, 0, 1, 0, 1, 1, 0, 1]) Batch 76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A tensor(0.4000) Batch 76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P tensor([0, 0, 0, 0, 1, 0, 0, 0, 0, 0]) Batch 77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T tensor([0, 0, 1, 1, 1, 1, 1, 1, 0, 1]) Batch 77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A tensor(0.4000) Batch 77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P tensor([0, 0, 0, 0, 0, 0, 0, 0, 0, 0]) Batch 78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T tensor([1, 1, 0, 0, 0, 1, 0, 0, 1, 0]) Batch 78 Epoch 9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900" b="0" i="0" dirty="0">
                <a:effectLst/>
                <a:latin typeface="BigBlue TerminalPlus" pitchFamily="49" charset="0"/>
                <a:ea typeface="BigBlue TerminalPlus" pitchFamily="49" charset="0"/>
                <a:cs typeface="BigBlue TerminalPlus" pitchFamily="49" charset="0"/>
              </a:rPr>
              <a:t>A tensor(0.6000) Batch 78 Epoch 9</a:t>
            </a:r>
            <a:endParaRPr lang="en-US" sz="900" dirty="0">
              <a:latin typeface="BigBlue TerminalPlus" pitchFamily="49" charset="0"/>
              <a:ea typeface="BigBlue TerminalPlus" pitchFamily="49" charset="0"/>
              <a:cs typeface="BigBlue TerminalPlus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7AFD2-ADB8-875B-CCEF-7AE615E9FCA1}"/>
              </a:ext>
            </a:extLst>
          </p:cNvPr>
          <p:cNvSpPr txBox="1"/>
          <p:nvPr/>
        </p:nvSpPr>
        <p:spPr>
          <a:xfrm>
            <a:off x="706056" y="1690688"/>
            <a:ext cx="46182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“interesting” portion of weight space of the models is “narrow”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Because of this, overfitting is not a primary concern, since the LSTM models had trouble </a:t>
            </a:r>
            <a:r>
              <a:rPr lang="en-US" i="1" dirty="0"/>
              <a:t>fitting</a:t>
            </a:r>
            <a:r>
              <a:rPr lang="en-US" dirty="0"/>
              <a:t>, let alone overfitting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Still tune dropout rate once a “good” learning rate is set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AA0E10-5716-B264-ADA1-6CDD6A7B1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431" y="1690688"/>
            <a:ext cx="5759369" cy="431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21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CC357-2545-2054-DA0B-4E283E93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Model Judgement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FAA1F-8CD9-F828-4240-EE4F9FD91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8" y="3407377"/>
            <a:ext cx="6894576" cy="23613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E8870-316B-DFBD-FBDC-18BC1C0D2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1728" y="889659"/>
            <a:ext cx="6894576" cy="2361391"/>
          </a:xfrm>
        </p:spPr>
        <p:txBody>
          <a:bodyPr anchor="t">
            <a:normAutofit/>
          </a:bodyPr>
          <a:lstStyle/>
          <a:p>
            <a:r>
              <a:rPr lang="en-US" sz="2000" dirty="0"/>
              <a:t>Recall is much more important than precision</a:t>
            </a:r>
          </a:p>
          <a:p>
            <a:pPr lvl="1"/>
            <a:r>
              <a:rPr lang="en-US" sz="2000" dirty="0"/>
              <a:t>Don’t want to give classified information to people who shouldn’t have it!</a:t>
            </a:r>
          </a:p>
          <a:p>
            <a:pPr lvl="1"/>
            <a:r>
              <a:rPr lang="en-US" sz="2000" dirty="0"/>
              <a:t>But also, don’t want to reject qualified applicants if problems are successfully mitigated</a:t>
            </a:r>
          </a:p>
          <a:p>
            <a:r>
              <a:rPr lang="en-US" sz="2000" dirty="0"/>
              <a:t>F</a:t>
            </a:r>
            <a:r>
              <a:rPr lang="el-GR" sz="2000" dirty="0"/>
              <a:t>β</a:t>
            </a:r>
            <a:r>
              <a:rPr lang="en-US" sz="2000" dirty="0"/>
              <a:t> score: modification of F1 that says recall is </a:t>
            </a:r>
            <a:r>
              <a:rPr lang="el-GR" sz="2000" dirty="0"/>
              <a:t>β</a:t>
            </a:r>
            <a:r>
              <a:rPr lang="en-US" sz="2000" dirty="0"/>
              <a:t> times more important than precision</a:t>
            </a:r>
          </a:p>
        </p:txBody>
      </p:sp>
    </p:spTree>
    <p:extLst>
      <p:ext uri="{BB962C8B-B14F-4D97-AF65-F5344CB8AC3E}">
        <p14:creationId xmlns:p14="http://schemas.microsoft.com/office/powerpoint/2010/main" val="257473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DA945-4CDF-D21E-550D-3C9A3D2C1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Results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08BBF2-D229-4AC4-97E8-79B6C916A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LR outperforms all LSTM models</a:t>
            </a:r>
          </a:p>
          <a:p>
            <a:r>
              <a:rPr lang="en-US" sz="2200" dirty="0"/>
              <a:t>Interpretation: few “red flags” determine decision</a:t>
            </a:r>
          </a:p>
          <a:p>
            <a:pPr lvl="1"/>
            <a:r>
              <a:rPr lang="en-US" sz="2200" dirty="0"/>
              <a:t>Can be seen by looking at n-gram weights in best LR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B7688-F81F-96A4-644F-DB3809186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39" y="640080"/>
            <a:ext cx="686503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2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0D7D-DDFD-D8BC-6025-F2F035F1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5A96-FA4F-D581-1F8F-EC8BBA710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section will make references to in minimal detail</a:t>
            </a:r>
          </a:p>
          <a:p>
            <a:pPr lvl="1"/>
            <a:r>
              <a:rPr lang="en-US" dirty="0"/>
              <a:t>Child exploitation</a:t>
            </a:r>
          </a:p>
          <a:p>
            <a:pPr lvl="1"/>
            <a:r>
              <a:rPr lang="en-US" dirty="0"/>
              <a:t>Sexual assault</a:t>
            </a:r>
          </a:p>
          <a:p>
            <a:pPr lvl="1"/>
            <a:r>
              <a:rPr lang="en-US" dirty="0"/>
              <a:t>Sexism</a:t>
            </a:r>
          </a:p>
          <a:p>
            <a:pPr lvl="1"/>
            <a:r>
              <a:rPr lang="en-US" dirty="0"/>
              <a:t>Drug Abuse</a:t>
            </a:r>
          </a:p>
          <a:p>
            <a:pPr lvl="1"/>
            <a:r>
              <a:rPr lang="en-US" dirty="0"/>
              <a:t>Potentially Controversial Foreign Policy Issues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4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77873D-76A3-63B4-93DA-1A2282D9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42698"/>
            <a:ext cx="5291666" cy="5172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F14704-A03F-B785-10E0-0FCC38C8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127125"/>
            <a:ext cx="5291667" cy="460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8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3702-2459-6E67-A401-DD92A39E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of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E88A-557C-0579-0E99-B2070328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Gender (and other sociological) bias</a:t>
            </a:r>
          </a:p>
          <a:p>
            <a:pPr lvl="1"/>
            <a:r>
              <a:rPr lang="en-US" dirty="0">
                <a:latin typeface="Apple Kid" pitchFamily="2" charset="0"/>
                <a:ea typeface="BigBlue TerminalPlus" pitchFamily="49" charset="0"/>
                <a:cs typeface="Consolas" panose="020B0609020204030204" pitchFamily="49" charset="0"/>
              </a:rPr>
              <a:t>“applicant wife” 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has greater effect on approval than </a:t>
            </a:r>
            <a:r>
              <a:rPr lang="en-US" dirty="0">
                <a:latin typeface="Apple Kid" pitchFamily="2" charset="0"/>
                <a:ea typeface="BigBlue TerminalPlus" pitchFamily="49" charset="0"/>
                <a:cs typeface="Consolas" panose="020B0609020204030204" pitchFamily="49" charset="0"/>
              </a:rPr>
              <a:t>“applicant husband”</a:t>
            </a:r>
          </a:p>
          <a:p>
            <a:r>
              <a:rPr lang="en-US" dirty="0">
                <a:ea typeface="BigBlue TerminalPlus" pitchFamily="49" charset="0"/>
                <a:cs typeface="BigBlue TerminalPlus" pitchFamily="49" charset="0"/>
              </a:rPr>
              <a:t>Underestimation of how problematic some </a:t>
            </a:r>
            <a:r>
              <a:rPr lang="en-US" dirty="0" err="1">
                <a:ea typeface="BigBlue TerminalPlus" pitchFamily="49" charset="0"/>
                <a:cs typeface="BigBlue TerminalPlus" pitchFamily="49" charset="0"/>
              </a:rPr>
              <a:t>ngrams</a:t>
            </a:r>
            <a:r>
              <a:rPr lang="en-US" dirty="0">
                <a:ea typeface="BigBlue TerminalPlus" pitchFamily="49" charset="0"/>
                <a:cs typeface="BigBlue TerminalPlus" pitchFamily="49" charset="0"/>
              </a:rPr>
              <a:t> are due to rarity</a:t>
            </a:r>
          </a:p>
          <a:p>
            <a:pPr lvl="1"/>
            <a:r>
              <a:rPr lang="en-US" dirty="0">
                <a:latin typeface="Apple Kid" pitchFamily="2" charset="0"/>
                <a:ea typeface="BigBlue TerminalPlus" pitchFamily="49" charset="0"/>
                <a:cs typeface="Consolas" panose="020B0609020204030204" pitchFamily="49" charset="0"/>
              </a:rPr>
              <a:t>“use cocaine”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latin typeface="Apple Kid" pitchFamily="2" charset="0"/>
                <a:ea typeface="BigBlue TerminalPlus" pitchFamily="49" charset="0"/>
                <a:cs typeface="BigBlue TerminalPlus" pitchFamily="49" charset="0"/>
              </a:rPr>
              <a:t>“use </a:t>
            </a:r>
            <a:r>
              <a:rPr lang="en-US" dirty="0" err="1">
                <a:latin typeface="Apple Kid" pitchFamily="2" charset="0"/>
                <a:ea typeface="BigBlue TerminalPlus" pitchFamily="49" charset="0"/>
                <a:cs typeface="BigBlue TerminalPlus" pitchFamily="49" charset="0"/>
              </a:rPr>
              <a:t>lsd</a:t>
            </a:r>
            <a:r>
              <a:rPr lang="en-US" dirty="0">
                <a:latin typeface="Apple Kid" pitchFamily="2" charset="0"/>
                <a:ea typeface="BigBlue TerminalPlus" pitchFamily="49" charset="0"/>
                <a:cs typeface="BigBlue TerminalPlus" pitchFamily="49" charset="0"/>
              </a:rPr>
              <a:t>” 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have coefficients 100% less in magnitude than </a:t>
            </a:r>
            <a:r>
              <a:rPr lang="en-US" dirty="0">
                <a:latin typeface="Apple Kid" pitchFamily="2" charset="0"/>
                <a:ea typeface="BigBlue TerminalPlus" pitchFamily="49" charset="0"/>
                <a:cs typeface="BigBlue TerminalPlus" pitchFamily="49" charset="0"/>
              </a:rPr>
              <a:t>“use marijuana”</a:t>
            </a:r>
          </a:p>
          <a:p>
            <a:pPr lvl="1"/>
            <a:r>
              <a:rPr lang="en-US" dirty="0">
                <a:latin typeface="Apple Kid" pitchFamily="2" charset="0"/>
                <a:ea typeface="BigBlue TerminalPlus" pitchFamily="49" charset="0"/>
                <a:cs typeface="Consolas" panose="020B0609020204030204" pitchFamily="49" charset="0"/>
              </a:rPr>
              <a:t>“child pornography” 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has a lesser magnitude coefficient </a:t>
            </a:r>
            <a:r>
              <a:rPr lang="en-US" dirty="0">
                <a:ea typeface="BigBlue TerminalPlus" pitchFamily="49" charset="0"/>
                <a:cs typeface="BigBlue TerminalPlus" pitchFamily="49" charset="0"/>
              </a:rPr>
              <a:t>than all the above drug </a:t>
            </a:r>
            <a:r>
              <a:rPr lang="en-US" dirty="0" err="1">
                <a:ea typeface="BigBlue TerminalPlus" pitchFamily="49" charset="0"/>
                <a:cs typeface="BigBlue TerminalPlus" pitchFamily="49" charset="0"/>
              </a:rPr>
              <a:t>ngrams</a:t>
            </a:r>
            <a:endParaRPr lang="en-US" dirty="0">
              <a:ea typeface="BigBlue TerminalPlus" pitchFamily="49" charset="0"/>
              <a:cs typeface="BigBlue TerminalPlus" pitchFamily="49" charset="0"/>
            </a:endParaRPr>
          </a:p>
          <a:p>
            <a:pPr lvl="1"/>
            <a:r>
              <a:rPr lang="en-US" dirty="0">
                <a:latin typeface="Apple Kid" pitchFamily="2" charset="0"/>
                <a:ea typeface="BigBlue TerminalPlus" pitchFamily="49" charset="0"/>
                <a:cs typeface="Consolas" panose="020B0609020204030204" pitchFamily="49" charset="0"/>
              </a:rPr>
              <a:t>“sexual harassment” 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has a </a:t>
            </a:r>
            <a:r>
              <a:rPr lang="en-US" i="1" dirty="0">
                <a:ea typeface="BigBlue TerminalPlus" pitchFamily="49" charset="0"/>
                <a:cs typeface="Consolas" panose="020B0609020204030204" pitchFamily="49" charset="0"/>
              </a:rPr>
              <a:t>negative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 coefficient, meaning it </a:t>
            </a:r>
            <a:r>
              <a:rPr lang="en-US" i="1" dirty="0">
                <a:ea typeface="BigBlue TerminalPlus" pitchFamily="49" charset="0"/>
                <a:cs typeface="Consolas" panose="020B0609020204030204" pitchFamily="49" charset="0"/>
              </a:rPr>
              <a:t>increases </a:t>
            </a:r>
            <a:r>
              <a:rPr lang="en-US" dirty="0">
                <a:ea typeface="BigBlue TerminalPlus" pitchFamily="49" charset="0"/>
                <a:cs typeface="Consolas" panose="020B0609020204030204" pitchFamily="49" charset="0"/>
              </a:rPr>
              <a:t>the chance of clearance approval</a:t>
            </a:r>
          </a:p>
          <a:p>
            <a:pPr marL="0" indent="0">
              <a:buNone/>
            </a:pPr>
            <a:endParaRPr lang="en-US" dirty="0">
              <a:latin typeface="Apple Kid" pitchFamily="2" charset="0"/>
              <a:ea typeface="BigBlue TerminalPlus" pitchFamily="49" charset="0"/>
              <a:cs typeface="Consolas" panose="020B06090202040302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76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752DB-ED5B-3D52-2E9B-F2096D67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digression on Foreign Influence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3A8B00-7366-C856-FE4F-FA94746C7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528628"/>
            <a:ext cx="10744200" cy="35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5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A685-51ED-87C8-C791-3C710C76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A2CCB-18D2-377F-7B55-6BC2ED3FB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models are outperformed by LR models due to concentration of denials in a few “red flags”</a:t>
            </a:r>
          </a:p>
          <a:p>
            <a:r>
              <a:rPr lang="en-US" dirty="0"/>
              <a:t>Best LR preform well, achieving recall of 90% and F3 of 0.89</a:t>
            </a:r>
          </a:p>
          <a:p>
            <a:pPr lvl="1"/>
            <a:r>
              <a:rPr lang="en-US" dirty="0"/>
              <a:t>But it is clear the model is far from robust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1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CD7B-662C-9B94-7451-9CB266DE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 for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5CDF-554F-68DE-91B0-4711ACC5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 transformer models that can be fed clearance guidelines before fitting</a:t>
            </a:r>
          </a:p>
          <a:p>
            <a:r>
              <a:rPr lang="en-US" dirty="0"/>
              <a:t>Adopt “Rationale Extraction” paradigm common in other legal judgement models</a:t>
            </a:r>
          </a:p>
          <a:p>
            <a:r>
              <a:rPr lang="en-US" dirty="0"/>
              <a:t>Divide model into sub-models for each security guideline</a:t>
            </a:r>
          </a:p>
          <a:p>
            <a:r>
              <a:rPr lang="en-US" dirty="0"/>
              <a:t>Clean data of information on protected characteristics (except nationality, for obvious reasons)</a:t>
            </a:r>
          </a:p>
        </p:txBody>
      </p:sp>
    </p:spTree>
    <p:extLst>
      <p:ext uri="{BB962C8B-B14F-4D97-AF65-F5344CB8AC3E}">
        <p14:creationId xmlns:p14="http://schemas.microsoft.com/office/powerpoint/2010/main" val="141153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1032</Words>
  <Application>Microsoft Macintosh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Apple Kid</vt:lpstr>
      <vt:lpstr>Aptos</vt:lpstr>
      <vt:lpstr>Aptos Display</vt:lpstr>
      <vt:lpstr>Arial</vt:lpstr>
      <vt:lpstr>BigBlue TerminalPlus</vt:lpstr>
      <vt:lpstr>Calibri</vt:lpstr>
      <vt:lpstr>Consolas</vt:lpstr>
      <vt:lpstr>Office Theme</vt:lpstr>
      <vt:lpstr>Prediction of the Outcome of United State Security Clearance Appeals via NLP models</vt:lpstr>
      <vt:lpstr>Introduction</vt:lpstr>
      <vt:lpstr>Appealing after receiving an SOR</vt:lpstr>
      <vt:lpstr>Data Collection and processing</vt:lpstr>
      <vt:lpstr>Handling class Imbalance</vt:lpstr>
      <vt:lpstr>LR Hyperparameters</vt:lpstr>
      <vt:lpstr>Learning Rate Sensitivity for LSTM</vt:lpstr>
      <vt:lpstr>Model Judgement</vt:lpstr>
      <vt:lpstr>Results</vt:lpstr>
      <vt:lpstr>Content Warning</vt:lpstr>
      <vt:lpstr>PowerPoint Presentation</vt:lpstr>
      <vt:lpstr>Problems of Model</vt:lpstr>
      <vt:lpstr>Quick digression on Foreign Influence</vt:lpstr>
      <vt:lpstr>Conclusion</vt:lpstr>
      <vt:lpstr>Suggestions for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the Outcome of United State Security Clearance Appeals via NLP models</dc:title>
  <dc:creator>Frank, Julius</dc:creator>
  <cp:lastModifiedBy>Frank, Julius</cp:lastModifiedBy>
  <cp:revision>6</cp:revision>
  <dcterms:created xsi:type="dcterms:W3CDTF">2024-04-28T07:47:19Z</dcterms:created>
  <dcterms:modified xsi:type="dcterms:W3CDTF">2024-04-28T10:09:19Z</dcterms:modified>
</cp:coreProperties>
</file>